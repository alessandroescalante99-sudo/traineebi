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9" r:id="rId3"/>
    <p:sldId id="260" r:id="rId4"/>
    <p:sldId id="261" r:id="rId5"/>
    <p:sldId id="257" r:id="rId6"/>
    <p:sldId id="258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4" autoAdjust="0"/>
    <p:restoredTop sz="94660"/>
  </p:normalViewPr>
  <p:slideViewPr>
    <p:cSldViewPr snapToGrid="0">
      <p:cViewPr varScale="1">
        <p:scale>
          <a:sx n="65" d="100"/>
          <a:sy n="65" d="100"/>
        </p:scale>
        <p:origin x="6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Escalante" userId="fe1fe46345ebd647" providerId="LiveId" clId="{8B148246-D680-4E7D-B03F-972782AC5232}"/>
    <pc:docChg chg="custSel modSld">
      <pc:chgData name="Alessandro Escalante" userId="fe1fe46345ebd647" providerId="LiveId" clId="{8B148246-D680-4E7D-B03F-972782AC5232}" dt="2026-09-09T19:15:23.492" v="32" actId="20577"/>
      <pc:docMkLst>
        <pc:docMk/>
      </pc:docMkLst>
      <pc:sldChg chg="modSp mod">
        <pc:chgData name="Alessandro Escalante" userId="fe1fe46345ebd647" providerId="LiveId" clId="{8B148246-D680-4E7D-B03F-972782AC5232}" dt="2026-09-09T19:15:23.492" v="32" actId="20577"/>
        <pc:sldMkLst>
          <pc:docMk/>
          <pc:sldMk cId="1818885570" sldId="256"/>
        </pc:sldMkLst>
        <pc:spChg chg="mod">
          <ac:chgData name="Alessandro Escalante" userId="fe1fe46345ebd647" providerId="LiveId" clId="{8B148246-D680-4E7D-B03F-972782AC5232}" dt="2026-09-09T19:14:38.316" v="1" actId="27636"/>
          <ac:spMkLst>
            <pc:docMk/>
            <pc:sldMk cId="1818885570" sldId="256"/>
            <ac:spMk id="2" creationId="{090E94AA-8C31-C86C-76D6-A497206C3E77}"/>
          </ac:spMkLst>
        </pc:spChg>
        <pc:spChg chg="mod">
          <ac:chgData name="Alessandro Escalante" userId="fe1fe46345ebd647" providerId="LiveId" clId="{8B148246-D680-4E7D-B03F-972782AC5232}" dt="2026-09-09T19:15:23.492" v="32" actId="20577"/>
          <ac:spMkLst>
            <pc:docMk/>
            <pc:sldMk cId="1818885570" sldId="256"/>
            <ac:spMk id="8" creationId="{4838EB5A-8955-92EB-2D1B-FCD9C14D71F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494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6774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5792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718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50781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1350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930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54556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4344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323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6189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83225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6144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208798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6090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382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A5419-EB99-40D9-91A7-685E074A3FB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4979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3C68435-087A-696E-7825-B0FB9C3BD2FD}"/>
              </a:ext>
            </a:extLst>
          </p:cNvPr>
          <p:cNvSpPr/>
          <p:nvPr/>
        </p:nvSpPr>
        <p:spPr>
          <a:xfrm>
            <a:off x="757988" y="3537285"/>
            <a:ext cx="3958391" cy="6567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Alessandro Escalante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0E94AA-8C31-C86C-76D6-A497206C3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989" y="1032934"/>
            <a:ext cx="8927432" cy="1646302"/>
          </a:xfrm>
        </p:spPr>
        <p:txBody>
          <a:bodyPr>
            <a:normAutofit/>
          </a:bodyPr>
          <a:lstStyle/>
          <a:p>
            <a:pPr algn="l"/>
            <a:r>
              <a:rPr lang="es-AR" dirty="0"/>
              <a:t>Optimización de Márgenes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CEB21A-9768-114C-F3BA-4F6057773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989" y="2880551"/>
            <a:ext cx="8516014" cy="656734"/>
          </a:xfrm>
        </p:spPr>
        <p:txBody>
          <a:bodyPr>
            <a:normAutofit/>
          </a:bodyPr>
          <a:lstStyle/>
          <a:p>
            <a:pPr algn="l"/>
            <a:r>
              <a:rPr lang="es-AR" dirty="0"/>
              <a:t>Auditoría en Ventas y Rentabilidad Basada en los Datos de SuperTienda.</a:t>
            </a:r>
          </a:p>
        </p:txBody>
      </p:sp>
      <p:pic>
        <p:nvPicPr>
          <p:cNvPr id="6" name="Google Shape;59;p7">
            <a:extLst>
              <a:ext uri="{FF2B5EF4-FFF2-40B4-BE49-F238E27FC236}">
                <a16:creationId xmlns:a16="http://schemas.microsoft.com/office/drawing/2014/main" id="{2B7D78CD-F9E9-01FA-D965-1C7587F2694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0587" y="3623369"/>
            <a:ext cx="477108" cy="48456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838EB5A-8955-92EB-2D1B-FCD9C14D71F9}"/>
              </a:ext>
            </a:extLst>
          </p:cNvPr>
          <p:cNvSpPr/>
          <p:nvPr/>
        </p:nvSpPr>
        <p:spPr>
          <a:xfrm>
            <a:off x="757988" y="4395334"/>
            <a:ext cx="7760370" cy="6567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Roles: Analista de Datos | Analista BI | Ingeniero en Datos</a:t>
            </a:r>
          </a:p>
        </p:txBody>
      </p:sp>
    </p:spTree>
    <p:extLst>
      <p:ext uri="{BB962C8B-B14F-4D97-AF65-F5344CB8AC3E}">
        <p14:creationId xmlns:p14="http://schemas.microsoft.com/office/powerpoint/2010/main" val="1818885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E99B6-EE17-15DD-936B-94F19985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9968"/>
          </a:xfrm>
        </p:spPr>
        <p:txBody>
          <a:bodyPr/>
          <a:lstStyle/>
          <a:p>
            <a:r>
              <a:rPr lang="es-AR" dirty="0"/>
              <a:t>Proceso ETL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012FD3-41DE-B410-63AF-347881C32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846" y="2620973"/>
            <a:ext cx="2644970" cy="576262"/>
          </a:xfrm>
        </p:spPr>
        <p:txBody>
          <a:bodyPr/>
          <a:lstStyle/>
          <a:p>
            <a:r>
              <a:rPr lang="es-AR" sz="3200" dirty="0"/>
              <a:t>Extraer</a:t>
            </a:r>
            <a:r>
              <a:rPr lang="es-AR" dirty="0"/>
              <a:t>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E63B504-F6D3-1EED-296D-B4F2A80C2D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51030" y="2627030"/>
            <a:ext cx="2644970" cy="576262"/>
          </a:xfrm>
        </p:spPr>
        <p:txBody>
          <a:bodyPr/>
          <a:lstStyle/>
          <a:p>
            <a:r>
              <a:rPr lang="es-AR" sz="3200" dirty="0"/>
              <a:t>Transformar</a:t>
            </a:r>
            <a:r>
              <a:rPr lang="es-AR" dirty="0"/>
              <a:t> </a:t>
            </a:r>
          </a:p>
        </p:txBody>
      </p:sp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A3809DA6-F9A5-57CA-BB5D-AF05DC1EF909}"/>
              </a:ext>
            </a:extLst>
          </p:cNvPr>
          <p:cNvSpPr txBox="1">
            <a:spLocks/>
          </p:cNvSpPr>
          <p:nvPr/>
        </p:nvSpPr>
        <p:spPr>
          <a:xfrm>
            <a:off x="6242214" y="2627030"/>
            <a:ext cx="2662459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dirty="0"/>
              <a:t>Cargar 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1D39A17-A33A-C4C9-07B6-9B09122C3D52}"/>
              </a:ext>
            </a:extLst>
          </p:cNvPr>
          <p:cNvSpPr/>
          <p:nvPr/>
        </p:nvSpPr>
        <p:spPr>
          <a:xfrm>
            <a:off x="659846" y="3382596"/>
            <a:ext cx="2644970" cy="1625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B4782BC-1CBF-CEDA-8DD5-D11266978C86}"/>
              </a:ext>
            </a:extLst>
          </p:cNvPr>
          <p:cNvSpPr/>
          <p:nvPr/>
        </p:nvSpPr>
        <p:spPr>
          <a:xfrm>
            <a:off x="3451030" y="3364506"/>
            <a:ext cx="2662459" cy="1625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EDAC774-6FF2-304E-4429-C167983CEF3F}"/>
              </a:ext>
            </a:extLst>
          </p:cNvPr>
          <p:cNvSpPr/>
          <p:nvPr/>
        </p:nvSpPr>
        <p:spPr>
          <a:xfrm>
            <a:off x="6242215" y="3382596"/>
            <a:ext cx="2662459" cy="162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3835912-7692-A17F-E4DD-B4F1055952BD}"/>
              </a:ext>
            </a:extLst>
          </p:cNvPr>
          <p:cNvSpPr txBox="1"/>
          <p:nvPr/>
        </p:nvSpPr>
        <p:spPr>
          <a:xfrm>
            <a:off x="659846" y="1732547"/>
            <a:ext cx="8244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Luego de obtener una copia de la base de datos aplicamos el proceso ETL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8A0BA92-3010-D8A7-B95A-945C818F80B3}"/>
              </a:ext>
            </a:extLst>
          </p:cNvPr>
          <p:cNvSpPr txBox="1"/>
          <p:nvPr/>
        </p:nvSpPr>
        <p:spPr>
          <a:xfrm>
            <a:off x="659846" y="3567262"/>
            <a:ext cx="2644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Primero extraemos los datos desde la fuente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EE2BDBD-772E-7D29-7058-1334E52DA5D4}"/>
              </a:ext>
            </a:extLst>
          </p:cNvPr>
          <p:cNvSpPr txBox="1"/>
          <p:nvPr/>
        </p:nvSpPr>
        <p:spPr>
          <a:xfrm>
            <a:off x="3532882" y="3567262"/>
            <a:ext cx="2644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Después limpiamos y preparamos los datos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D1AAE5C-BF6C-8CC9-874F-776825DC3E1B}"/>
              </a:ext>
            </a:extLst>
          </p:cNvPr>
          <p:cNvSpPr txBox="1"/>
          <p:nvPr/>
        </p:nvSpPr>
        <p:spPr>
          <a:xfrm>
            <a:off x="6242215" y="3567262"/>
            <a:ext cx="2662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Cargamos los datos transformados en un destino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70161EE-BE44-66D7-0753-4EEA74CACAF4}"/>
              </a:ext>
            </a:extLst>
          </p:cNvPr>
          <p:cNvSpPr txBox="1"/>
          <p:nvPr/>
        </p:nvSpPr>
        <p:spPr>
          <a:xfrm>
            <a:off x="677334" y="5446455"/>
            <a:ext cx="8244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Luego de preparar y organizar los datos de nuestra fuente ya estamos listos para analizarlos</a:t>
            </a:r>
          </a:p>
        </p:txBody>
      </p:sp>
    </p:spTree>
    <p:extLst>
      <p:ext uri="{BB962C8B-B14F-4D97-AF65-F5344CB8AC3E}">
        <p14:creationId xmlns:p14="http://schemas.microsoft.com/office/powerpoint/2010/main" val="1224732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C56E1B2-1F3D-62F8-B907-C77FADA9FAD7}"/>
              </a:ext>
            </a:extLst>
          </p:cNvPr>
          <p:cNvSpPr/>
          <p:nvPr/>
        </p:nvSpPr>
        <p:spPr>
          <a:xfrm>
            <a:off x="733925" y="1467858"/>
            <a:ext cx="166035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Año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493BFFF-28E9-69F9-DC63-56E23F70EA1D}"/>
              </a:ext>
            </a:extLst>
          </p:cNvPr>
          <p:cNvSpPr/>
          <p:nvPr/>
        </p:nvSpPr>
        <p:spPr>
          <a:xfrm>
            <a:off x="733925" y="2667005"/>
            <a:ext cx="166035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2023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CCB7401-7BC5-C858-A5FB-3A074260DE77}"/>
              </a:ext>
            </a:extLst>
          </p:cNvPr>
          <p:cNvSpPr/>
          <p:nvPr/>
        </p:nvSpPr>
        <p:spPr>
          <a:xfrm>
            <a:off x="733925" y="3866152"/>
            <a:ext cx="166035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2024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6165FF2-C351-BC67-9F5F-3DE3F2B50DA2}"/>
              </a:ext>
            </a:extLst>
          </p:cNvPr>
          <p:cNvSpPr/>
          <p:nvPr/>
        </p:nvSpPr>
        <p:spPr>
          <a:xfrm>
            <a:off x="733925" y="5065299"/>
            <a:ext cx="166035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2025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6322488-9CD4-F259-A71C-6EC2AF92F9A1}"/>
              </a:ext>
            </a:extLst>
          </p:cNvPr>
          <p:cNvSpPr/>
          <p:nvPr/>
        </p:nvSpPr>
        <p:spPr>
          <a:xfrm>
            <a:off x="2582777" y="1467858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Cantidad Total Ventas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7A1F85A-AE1E-8281-A368-4103AB679416}"/>
              </a:ext>
            </a:extLst>
          </p:cNvPr>
          <p:cNvSpPr/>
          <p:nvPr/>
        </p:nvSpPr>
        <p:spPr>
          <a:xfrm>
            <a:off x="2582777" y="2667005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5.425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8D996AE-93A0-28BF-F104-A1CD3C837E5A}"/>
              </a:ext>
            </a:extLst>
          </p:cNvPr>
          <p:cNvSpPr/>
          <p:nvPr/>
        </p:nvSpPr>
        <p:spPr>
          <a:xfrm>
            <a:off x="2582777" y="3866152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5.100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8577C14-D94E-F089-6BC9-5BB8A150CB93}"/>
              </a:ext>
            </a:extLst>
          </p:cNvPr>
          <p:cNvSpPr/>
          <p:nvPr/>
        </p:nvSpPr>
        <p:spPr>
          <a:xfrm>
            <a:off x="2582777" y="5065299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1.703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DBDF310-FA12-8FDC-CC6A-B1444D5193F4}"/>
              </a:ext>
            </a:extLst>
          </p:cNvPr>
          <p:cNvSpPr/>
          <p:nvPr/>
        </p:nvSpPr>
        <p:spPr>
          <a:xfrm>
            <a:off x="4700334" y="1491922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Ingresos Totales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A0C9733-D405-4480-25F9-C08663518753}"/>
              </a:ext>
            </a:extLst>
          </p:cNvPr>
          <p:cNvSpPr/>
          <p:nvPr/>
        </p:nvSpPr>
        <p:spPr>
          <a:xfrm>
            <a:off x="4700333" y="2667005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$2.350.100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F187F08-6B32-C700-E18D-9567DB3C7457}"/>
              </a:ext>
            </a:extLst>
          </p:cNvPr>
          <p:cNvSpPr/>
          <p:nvPr/>
        </p:nvSpPr>
        <p:spPr>
          <a:xfrm>
            <a:off x="4700333" y="3890216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$2.144.515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33AAE1B-45B3-8588-A062-DAFC6A9EEAD7}"/>
              </a:ext>
            </a:extLst>
          </p:cNvPr>
          <p:cNvSpPr/>
          <p:nvPr/>
        </p:nvSpPr>
        <p:spPr>
          <a:xfrm>
            <a:off x="4700333" y="5113427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$713.304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923ADB7-1998-8EEC-0A18-EC9C35067A65}"/>
              </a:ext>
            </a:extLst>
          </p:cNvPr>
          <p:cNvSpPr/>
          <p:nvPr/>
        </p:nvSpPr>
        <p:spPr>
          <a:xfrm>
            <a:off x="6817891" y="1491922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Ganancias Totales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B20A632-D940-4AED-F3AB-5B17DD0BDECE}"/>
              </a:ext>
            </a:extLst>
          </p:cNvPr>
          <p:cNvSpPr/>
          <p:nvPr/>
        </p:nvSpPr>
        <p:spPr>
          <a:xfrm>
            <a:off x="6817889" y="2715132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$732.434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72C368A-AC35-EE1F-DF12-83B0E7C1B20D}"/>
              </a:ext>
            </a:extLst>
          </p:cNvPr>
          <p:cNvSpPr/>
          <p:nvPr/>
        </p:nvSpPr>
        <p:spPr>
          <a:xfrm>
            <a:off x="6817889" y="3854121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$663.458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5EA297DC-EA5C-53B6-F3BE-6EAACD9B3031}"/>
              </a:ext>
            </a:extLst>
          </p:cNvPr>
          <p:cNvSpPr/>
          <p:nvPr/>
        </p:nvSpPr>
        <p:spPr>
          <a:xfrm>
            <a:off x="6817889" y="5113427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$234.219</a:t>
            </a:r>
          </a:p>
        </p:txBody>
      </p:sp>
      <p:sp>
        <p:nvSpPr>
          <p:cNvPr id="18" name="Título 3">
            <a:extLst>
              <a:ext uri="{FF2B5EF4-FFF2-40B4-BE49-F238E27FC236}">
                <a16:creationId xmlns:a16="http://schemas.microsoft.com/office/drawing/2014/main" id="{3792A8AD-1489-9D64-E9BC-AA9BFA18B11F}"/>
              </a:ext>
            </a:extLst>
          </p:cNvPr>
          <p:cNvSpPr txBox="1">
            <a:spLocks/>
          </p:cNvSpPr>
          <p:nvPr/>
        </p:nvSpPr>
        <p:spPr>
          <a:xfrm>
            <a:off x="733925" y="58828"/>
            <a:ext cx="8596668" cy="63900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/>
              <a:t>Diagnóstico Inicial </a:t>
            </a:r>
            <a:endParaRPr lang="es-AR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C659FD3-862E-62E8-023A-7DFF85730AB9}"/>
              </a:ext>
            </a:extLst>
          </p:cNvPr>
          <p:cNvSpPr txBox="1"/>
          <p:nvPr/>
        </p:nvSpPr>
        <p:spPr>
          <a:xfrm>
            <a:off x="733926" y="914400"/>
            <a:ext cx="801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Los datos del 2025 son solo de los primeros 4 meses.</a:t>
            </a:r>
          </a:p>
        </p:txBody>
      </p:sp>
    </p:spTree>
    <p:extLst>
      <p:ext uri="{BB962C8B-B14F-4D97-AF65-F5344CB8AC3E}">
        <p14:creationId xmlns:p14="http://schemas.microsoft.com/office/powerpoint/2010/main" val="644837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BE17CA-D435-D530-0BB2-EC30D370C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93"/>
            <a:ext cx="12192000" cy="684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5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DA243E9-3ED2-8F2A-6F1A-6C951BDA47C3}"/>
              </a:ext>
            </a:extLst>
          </p:cNvPr>
          <p:cNvSpPr/>
          <p:nvPr/>
        </p:nvSpPr>
        <p:spPr>
          <a:xfrm>
            <a:off x="352482" y="2057400"/>
            <a:ext cx="3188813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564E279-7B55-F655-D3FB-EBFB1934E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Resumen de los Datos del Negocio 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4844505-1C20-550C-1360-9267832A3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82" y="3849831"/>
            <a:ext cx="10275858" cy="13715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3200" b="1" dirty="0"/>
              <a:t>En el primer diagnostico observamos que todos los datos parecen normales pero… 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366A22A-24C0-256D-62FC-A0E942D31179}"/>
              </a:ext>
            </a:extLst>
          </p:cNvPr>
          <p:cNvSpPr/>
          <p:nvPr/>
        </p:nvSpPr>
        <p:spPr>
          <a:xfrm>
            <a:off x="7439527" y="2045367"/>
            <a:ext cx="3188813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s-AR" sz="1800" b="1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38CC85A-A353-48A2-5A10-7B83B3172583}"/>
              </a:ext>
            </a:extLst>
          </p:cNvPr>
          <p:cNvSpPr/>
          <p:nvPr/>
        </p:nvSpPr>
        <p:spPr>
          <a:xfrm>
            <a:off x="3722148" y="2057400"/>
            <a:ext cx="3536526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4F7F10-E034-8483-E520-F2443421BD11}"/>
              </a:ext>
            </a:extLst>
          </p:cNvPr>
          <p:cNvSpPr txBox="1"/>
          <p:nvPr/>
        </p:nvSpPr>
        <p:spPr>
          <a:xfrm>
            <a:off x="7535216" y="2192558"/>
            <a:ext cx="31888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b="1" dirty="0"/>
              <a:t>Ganancia Total</a:t>
            </a:r>
          </a:p>
          <a:p>
            <a:r>
              <a:rPr lang="es-AR" sz="3200" b="1" dirty="0"/>
              <a:t>$ 1.630.110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286C46-DE76-7D97-D1CE-C525B59B2FCE}"/>
              </a:ext>
            </a:extLst>
          </p:cNvPr>
          <p:cNvSpPr txBox="1"/>
          <p:nvPr/>
        </p:nvSpPr>
        <p:spPr>
          <a:xfrm>
            <a:off x="3722148" y="2192558"/>
            <a:ext cx="35365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b="1" dirty="0"/>
              <a:t>Cantidad Vendida</a:t>
            </a:r>
          </a:p>
          <a:p>
            <a:r>
              <a:rPr lang="es-AR" sz="3200" b="1" dirty="0"/>
              <a:t>12.228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CBB0DFB-1D5E-02D1-FAF5-853431BD7DF5}"/>
              </a:ext>
            </a:extLst>
          </p:cNvPr>
          <p:cNvSpPr txBox="1"/>
          <p:nvPr/>
        </p:nvSpPr>
        <p:spPr>
          <a:xfrm>
            <a:off x="352482" y="2192558"/>
            <a:ext cx="31888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b="1" dirty="0"/>
              <a:t>Ingresos Totales</a:t>
            </a:r>
          </a:p>
          <a:p>
            <a:r>
              <a:rPr lang="es-AR" sz="3200" b="1" dirty="0"/>
              <a:t>$ 5.207.919</a:t>
            </a:r>
          </a:p>
        </p:txBody>
      </p:sp>
    </p:spTree>
    <p:extLst>
      <p:ext uri="{BB962C8B-B14F-4D97-AF65-F5344CB8AC3E}">
        <p14:creationId xmlns:p14="http://schemas.microsoft.com/office/powerpoint/2010/main" val="3676386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311139-54D5-DD9F-BBCB-66DB2E6B0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192000" cy="10587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3200" dirty="0"/>
              <a:t>En una segunda observación podemos apreciar un problema utilizando la Segmentación K-</a:t>
            </a:r>
            <a:r>
              <a:rPr lang="es-AR" sz="3200" dirty="0" err="1"/>
              <a:t>Means</a:t>
            </a:r>
            <a:r>
              <a:rPr lang="es-AR" sz="3200" dirty="0"/>
              <a:t> (Ventas x Ganancia)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DBD6623-E521-A5BB-A6BB-5D3C31F6A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8780"/>
            <a:ext cx="12192000" cy="579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475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A4806-EE65-ADE7-155B-7B03CDBD4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0800"/>
          </a:xfrm>
        </p:spPr>
        <p:txBody>
          <a:bodyPr/>
          <a:lstStyle/>
          <a:p>
            <a:r>
              <a:rPr lang="es-AR" dirty="0">
                <a:solidFill>
                  <a:schemeClr val="tx1"/>
                </a:solidFill>
              </a:rPr>
              <a:t>Podemos apreciar que en el Cluster 3 estamos teniendo Ventas que generan perdidas para la empresa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9C2D71-BA8C-F913-81E0-17AED5001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0800"/>
            <a:ext cx="12192000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52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C56E1B2-1F3D-62F8-B907-C77FADA9FAD7}"/>
              </a:ext>
            </a:extLst>
          </p:cNvPr>
          <p:cNvSpPr/>
          <p:nvPr/>
        </p:nvSpPr>
        <p:spPr>
          <a:xfrm>
            <a:off x="5913120" y="1461836"/>
            <a:ext cx="287434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Transacciones con Pérdida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493BFFF-28E9-69F9-DC63-56E23F70EA1D}"/>
              </a:ext>
            </a:extLst>
          </p:cNvPr>
          <p:cNvSpPr/>
          <p:nvPr/>
        </p:nvSpPr>
        <p:spPr>
          <a:xfrm>
            <a:off x="5913120" y="2660983"/>
            <a:ext cx="287434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Productos Involucrados en al menos una perdida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6322488-9CD4-F259-A71C-6EC2AF92F9A1}"/>
              </a:ext>
            </a:extLst>
          </p:cNvPr>
          <p:cNvSpPr/>
          <p:nvPr/>
        </p:nvSpPr>
        <p:spPr>
          <a:xfrm>
            <a:off x="8975957" y="1461836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111 de 2,724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7A1F85A-AE1E-8281-A368-4103AB679416}"/>
              </a:ext>
            </a:extLst>
          </p:cNvPr>
          <p:cNvSpPr/>
          <p:nvPr/>
        </p:nvSpPr>
        <p:spPr>
          <a:xfrm>
            <a:off x="8975957" y="2660983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40 de 120</a:t>
            </a:r>
          </a:p>
        </p:txBody>
      </p:sp>
      <p:sp>
        <p:nvSpPr>
          <p:cNvPr id="18" name="Título 3">
            <a:extLst>
              <a:ext uri="{FF2B5EF4-FFF2-40B4-BE49-F238E27FC236}">
                <a16:creationId xmlns:a16="http://schemas.microsoft.com/office/drawing/2014/main" id="{3792A8AD-1489-9D64-E9BC-AA9BFA18B11F}"/>
              </a:ext>
            </a:extLst>
          </p:cNvPr>
          <p:cNvSpPr txBox="1">
            <a:spLocks/>
          </p:cNvSpPr>
          <p:nvPr/>
        </p:nvSpPr>
        <p:spPr>
          <a:xfrm>
            <a:off x="188494" y="104347"/>
            <a:ext cx="8596668" cy="63900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dirty="0"/>
              <a:t>Diagnóstico de Cluster 3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F3000D4-8A79-3898-2E1A-992AB45A47B1}"/>
              </a:ext>
            </a:extLst>
          </p:cNvPr>
          <p:cNvSpPr/>
          <p:nvPr/>
        </p:nvSpPr>
        <p:spPr>
          <a:xfrm>
            <a:off x="371374" y="1461836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Categoría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58AFB8F-B133-87E4-6746-3D67AB30282E}"/>
              </a:ext>
            </a:extLst>
          </p:cNvPr>
          <p:cNvSpPr/>
          <p:nvPr/>
        </p:nvSpPr>
        <p:spPr>
          <a:xfrm>
            <a:off x="371374" y="2660983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Muebles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0EDC06C0-8D4B-2FEF-5C2F-795BD5744120}"/>
              </a:ext>
            </a:extLst>
          </p:cNvPr>
          <p:cNvSpPr/>
          <p:nvPr/>
        </p:nvSpPr>
        <p:spPr>
          <a:xfrm>
            <a:off x="371374" y="3860130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Tecnología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F0B09CB-9972-F443-2034-846A45672A36}"/>
              </a:ext>
            </a:extLst>
          </p:cNvPr>
          <p:cNvSpPr/>
          <p:nvPr/>
        </p:nvSpPr>
        <p:spPr>
          <a:xfrm>
            <a:off x="371374" y="5059277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Oficina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3351DBA-2CC5-635D-8724-2B3B4F80C31C}"/>
              </a:ext>
            </a:extLst>
          </p:cNvPr>
          <p:cNvSpPr/>
          <p:nvPr/>
        </p:nvSpPr>
        <p:spPr>
          <a:xfrm>
            <a:off x="2488931" y="1485900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Productos Afectados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5A44DBC7-4F45-6F10-7EAB-A7806FE337F1}"/>
              </a:ext>
            </a:extLst>
          </p:cNvPr>
          <p:cNvSpPr/>
          <p:nvPr/>
        </p:nvSpPr>
        <p:spPr>
          <a:xfrm>
            <a:off x="2488930" y="2660983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16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AE67F0AB-D30B-24BA-2F39-CE087E540AA5}"/>
              </a:ext>
            </a:extLst>
          </p:cNvPr>
          <p:cNvSpPr/>
          <p:nvPr/>
        </p:nvSpPr>
        <p:spPr>
          <a:xfrm>
            <a:off x="2488930" y="3884194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13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3DB21F40-B60B-C5FA-1F6D-0C460D8A7EE3}"/>
              </a:ext>
            </a:extLst>
          </p:cNvPr>
          <p:cNvSpPr/>
          <p:nvPr/>
        </p:nvSpPr>
        <p:spPr>
          <a:xfrm>
            <a:off x="2488930" y="5107405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11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05BFA8EF-4C7A-742F-695E-73D3F60465FC}"/>
              </a:ext>
            </a:extLst>
          </p:cNvPr>
          <p:cNvSpPr/>
          <p:nvPr/>
        </p:nvSpPr>
        <p:spPr>
          <a:xfrm>
            <a:off x="5913120" y="3908258"/>
            <a:ext cx="287434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Rango de Descuento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0DAD2D7A-7105-2998-A751-440075BF4548}"/>
              </a:ext>
            </a:extLst>
          </p:cNvPr>
          <p:cNvSpPr/>
          <p:nvPr/>
        </p:nvSpPr>
        <p:spPr>
          <a:xfrm>
            <a:off x="8975957" y="3908258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20% al 30%</a:t>
            </a:r>
          </a:p>
        </p:txBody>
      </p:sp>
    </p:spTree>
    <p:extLst>
      <p:ext uri="{BB962C8B-B14F-4D97-AF65-F5344CB8AC3E}">
        <p14:creationId xmlns:p14="http://schemas.microsoft.com/office/powerpoint/2010/main" val="652061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3">
            <a:extLst>
              <a:ext uri="{FF2B5EF4-FFF2-40B4-BE49-F238E27FC236}">
                <a16:creationId xmlns:a16="http://schemas.microsoft.com/office/drawing/2014/main" id="{3792A8AD-1489-9D64-E9BC-AA9BFA18B11F}"/>
              </a:ext>
            </a:extLst>
          </p:cNvPr>
          <p:cNvSpPr txBox="1">
            <a:spLocks/>
          </p:cNvSpPr>
          <p:nvPr/>
        </p:nvSpPr>
        <p:spPr>
          <a:xfrm>
            <a:off x="188494" y="104347"/>
            <a:ext cx="8596668" cy="63900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dirty="0"/>
              <a:t>Conclusión del Cluster 3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F3000D4-8A79-3898-2E1A-992AB45A47B1}"/>
              </a:ext>
            </a:extLst>
          </p:cNvPr>
          <p:cNvSpPr/>
          <p:nvPr/>
        </p:nvSpPr>
        <p:spPr>
          <a:xfrm>
            <a:off x="445968" y="2085573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Categoría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58AFB8F-B133-87E4-6746-3D67AB30282E}"/>
              </a:ext>
            </a:extLst>
          </p:cNvPr>
          <p:cNvSpPr/>
          <p:nvPr/>
        </p:nvSpPr>
        <p:spPr>
          <a:xfrm>
            <a:off x="445968" y="3243913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Muebles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0EDC06C0-8D4B-2FEF-5C2F-795BD5744120}"/>
              </a:ext>
            </a:extLst>
          </p:cNvPr>
          <p:cNvSpPr/>
          <p:nvPr/>
        </p:nvSpPr>
        <p:spPr>
          <a:xfrm>
            <a:off x="445968" y="4443060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Tecnología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F0B09CB-9972-F443-2034-846A45672A36}"/>
              </a:ext>
            </a:extLst>
          </p:cNvPr>
          <p:cNvSpPr/>
          <p:nvPr/>
        </p:nvSpPr>
        <p:spPr>
          <a:xfrm>
            <a:off x="445968" y="5642207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Oficina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3351DBA-2CC5-635D-8724-2B3B4F80C31C}"/>
              </a:ext>
            </a:extLst>
          </p:cNvPr>
          <p:cNvSpPr/>
          <p:nvPr/>
        </p:nvSpPr>
        <p:spPr>
          <a:xfrm>
            <a:off x="3243311" y="2068830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Pérdida 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5A44DBC7-4F45-6F10-7EAB-A7806FE337F1}"/>
              </a:ext>
            </a:extLst>
          </p:cNvPr>
          <p:cNvSpPr/>
          <p:nvPr/>
        </p:nvSpPr>
        <p:spPr>
          <a:xfrm>
            <a:off x="3243310" y="3243913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- $3,690.25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AE67F0AB-D30B-24BA-2F39-CE087E540AA5}"/>
              </a:ext>
            </a:extLst>
          </p:cNvPr>
          <p:cNvSpPr/>
          <p:nvPr/>
        </p:nvSpPr>
        <p:spPr>
          <a:xfrm>
            <a:off x="3243310" y="4467124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- $ 3,667.58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3DB21F40-B60B-C5FA-1F6D-0C460D8A7EE3}"/>
              </a:ext>
            </a:extLst>
          </p:cNvPr>
          <p:cNvSpPr/>
          <p:nvPr/>
        </p:nvSpPr>
        <p:spPr>
          <a:xfrm>
            <a:off x="3243310" y="5690335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- $ 3,202.27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F36092-5FB9-E448-091D-1ECCD04E6E3F}"/>
              </a:ext>
            </a:extLst>
          </p:cNvPr>
          <p:cNvSpPr txBox="1"/>
          <p:nvPr/>
        </p:nvSpPr>
        <p:spPr>
          <a:xfrm>
            <a:off x="188494" y="743351"/>
            <a:ext cx="9847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Se perdieron $ 10,560 en total, lo que representa la suma de las 111 transacciones con ganancia negativa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7EC3448-87AA-2729-F6B6-A9C020E190D7}"/>
              </a:ext>
            </a:extLst>
          </p:cNvPr>
          <p:cNvSpPr txBox="1"/>
          <p:nvPr/>
        </p:nvSpPr>
        <p:spPr>
          <a:xfrm flipH="1">
            <a:off x="6040654" y="2085573"/>
            <a:ext cx="39148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Contexto: La empresa generó $ 1,630,110 en ganancias, así que esa pérdida representa solo el 0.64% de la ganancia bruta. </a:t>
            </a:r>
          </a:p>
          <a:p>
            <a:endParaRPr lang="es-AR" sz="2400" dirty="0"/>
          </a:p>
          <a:p>
            <a:r>
              <a:rPr lang="es-AR" sz="2400" dirty="0"/>
              <a:t>Pero es importante corregirla para evitar seguir generando perdidas innecesarias. </a:t>
            </a:r>
          </a:p>
        </p:txBody>
      </p:sp>
    </p:spTree>
    <p:extLst>
      <p:ext uri="{BB962C8B-B14F-4D97-AF65-F5344CB8AC3E}">
        <p14:creationId xmlns:p14="http://schemas.microsoft.com/office/powerpoint/2010/main" val="2850461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CE3E0-260B-9ED2-05CA-8EEA6CCBD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Conclusiones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E3E7BD-426E-5250-74BE-8093FC406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406894" cy="576262"/>
          </a:xfrm>
        </p:spPr>
        <p:txBody>
          <a:bodyPr/>
          <a:lstStyle/>
          <a:p>
            <a:r>
              <a:rPr lang="es-AR" dirty="0"/>
              <a:t>Proteger </a:t>
            </a:r>
            <a:r>
              <a:rPr lang="es-AR" dirty="0" err="1"/>
              <a:t>Cluster</a:t>
            </a:r>
            <a:r>
              <a:rPr lang="es-AR" dirty="0"/>
              <a:t> 1 y </a:t>
            </a:r>
            <a:r>
              <a:rPr lang="es-AR" dirty="0" err="1"/>
              <a:t>Cluster</a:t>
            </a:r>
            <a:r>
              <a:rPr lang="es-AR" dirty="0"/>
              <a:t> 2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C80613-8556-9E8D-560F-4740603EA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406894" cy="3304117"/>
          </a:xfrm>
        </p:spPr>
        <p:txBody>
          <a:bodyPr>
            <a:normAutofit lnSpcReduction="10000"/>
          </a:bodyPr>
          <a:lstStyle/>
          <a:p>
            <a:r>
              <a:rPr lang="es-AR" dirty="0"/>
              <a:t>Actualmente estos dos sectores representan transacciones seguras para el negocio lo cual es conveniente para mantener los márgenes de ganancias.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DE6008-8DDD-FCFF-3BA5-86A5844B1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75271" y="2160983"/>
            <a:ext cx="4406894" cy="576262"/>
          </a:xfrm>
        </p:spPr>
        <p:txBody>
          <a:bodyPr/>
          <a:lstStyle/>
          <a:p>
            <a:r>
              <a:rPr lang="es-AR" dirty="0"/>
              <a:t>Limite en Descuentos del 19%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9989868-B893-CC76-922E-D088EA9705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75272" y="2737245"/>
            <a:ext cx="4185617" cy="3304117"/>
          </a:xfrm>
        </p:spPr>
        <p:txBody>
          <a:bodyPr>
            <a:normAutofit lnSpcReduction="10000"/>
          </a:bodyPr>
          <a:lstStyle/>
          <a:p>
            <a:r>
              <a:rPr lang="es-AR" dirty="0"/>
              <a:t>Para eliminar las perdidas en ventas tenemos que eliminar todos los descuentos que sean mayores al 20% ya que por arriba del mismo empiezan a registrarse las perdidas.</a:t>
            </a:r>
          </a:p>
          <a:p>
            <a:endParaRPr lang="es-AR" dirty="0"/>
          </a:p>
          <a:p>
            <a:r>
              <a:rPr lang="es-AR" dirty="0"/>
              <a:t>Dato: Por debajo del 19% no hay perdidas registradas, pero a partir del 20% se registran 14 transacciones en pérdida.</a:t>
            </a:r>
          </a:p>
        </p:txBody>
      </p:sp>
    </p:spTree>
    <p:extLst>
      <p:ext uri="{BB962C8B-B14F-4D97-AF65-F5344CB8AC3E}">
        <p14:creationId xmlns:p14="http://schemas.microsoft.com/office/powerpoint/2010/main" val="222200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D572E-E0CA-F434-06A8-DDA93D1E7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Cierre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A4222C4-A7F3-8CD2-369E-69AFFE365CFC}"/>
              </a:ext>
            </a:extLst>
          </p:cNvPr>
          <p:cNvSpPr/>
          <p:nvPr/>
        </p:nvSpPr>
        <p:spPr>
          <a:xfrm>
            <a:off x="677334" y="1473200"/>
            <a:ext cx="4452806" cy="4583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09CC0A-0DA0-D224-9B6B-37DD3106609E}"/>
              </a:ext>
            </a:extLst>
          </p:cNvPr>
          <p:cNvSpPr txBox="1"/>
          <p:nvPr/>
        </p:nvSpPr>
        <p:spPr>
          <a:xfrm>
            <a:off x="794106" y="1995092"/>
            <a:ext cx="42276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En este camino pudimos apreciar la importancia de la segmentación algorítmica la cual fue clave para detectar las transacciones que generaron perdidas y porque lo hacían.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71D57FE-C9E2-563F-165C-04D0B8779A10}"/>
              </a:ext>
            </a:extLst>
          </p:cNvPr>
          <p:cNvSpPr/>
          <p:nvPr/>
        </p:nvSpPr>
        <p:spPr>
          <a:xfrm>
            <a:off x="5242735" y="1473199"/>
            <a:ext cx="4452806" cy="4583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47F18E-CD82-A245-FA62-92CF5D359C15}"/>
              </a:ext>
            </a:extLst>
          </p:cNvPr>
          <p:cNvSpPr txBox="1"/>
          <p:nvPr/>
        </p:nvSpPr>
        <p:spPr>
          <a:xfrm>
            <a:off x="5293315" y="1779648"/>
            <a:ext cx="4351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Con este resultado pudimos probar que para aumentar las ganancias de la empresa no siempre es necesario vender mas, sino cuidar las transacciones y las decisiones que se toman con las mismas </a:t>
            </a:r>
          </a:p>
        </p:txBody>
      </p:sp>
    </p:spTree>
    <p:extLst>
      <p:ext uri="{BB962C8B-B14F-4D97-AF65-F5344CB8AC3E}">
        <p14:creationId xmlns:p14="http://schemas.microsoft.com/office/powerpoint/2010/main" val="26903036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259</TotalTime>
  <Words>445</Words>
  <Application>Microsoft Office PowerPoint</Application>
  <PresentationFormat>Panorámica</PresentationFormat>
  <Paragraphs>79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</vt:lpstr>
      <vt:lpstr>Optimización de Márgenes</vt:lpstr>
      <vt:lpstr>Proceso ETL</vt:lpstr>
      <vt:lpstr>Presentación de PowerPoint</vt:lpstr>
      <vt:lpstr>Presentación de PowerPoint</vt:lpstr>
      <vt:lpstr>Resumen de los Datos del Negocio </vt:lpstr>
      <vt:lpstr>Presentación de PowerPoint</vt:lpstr>
      <vt:lpstr>Podemos apreciar que en el Cluster 3 estamos teniendo Ventas que generan perdidas para la empresa</vt:lpstr>
      <vt:lpstr>Presentación de PowerPoint</vt:lpstr>
      <vt:lpstr>Presentación de PowerPoint</vt:lpstr>
      <vt:lpstr>Conclusiones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Escalante</dc:creator>
  <cp:lastModifiedBy>Alessandro Escalante</cp:lastModifiedBy>
  <cp:revision>4</cp:revision>
  <dcterms:created xsi:type="dcterms:W3CDTF">2026-08-31T18:47:32Z</dcterms:created>
  <dcterms:modified xsi:type="dcterms:W3CDTF">2026-09-09T19:16:10Z</dcterms:modified>
</cp:coreProperties>
</file>